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bold r:id="rId17"/>
      <p:boldItalic r:id="rId18"/>
    </p:embeddedFont>
    <p:embeddedFont>
      <p:font typeface="Inter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italic.fntdata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bold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79bfd3456447811d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79bfd3456447811d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79bfd3456447811d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79bfd3456447811d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9bfd3456447811d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9bfd3456447811d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79bfd3456447811d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79bfd3456447811d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79bfd3456447811d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79bfd3456447811d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79bfd3456447811d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79bfd3456447811d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79bfd3456447811d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79bfd3456447811d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9bfd3456447811d_17_0)">
  <p:cSld name="Generated (h79bfd3456447811d_1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14"/>
            <p:cNvGrpSpPr/>
            <p:nvPr/>
          </p:nvGrpSpPr>
          <p:grpSpPr>
            <a:xfrm>
              <a:off x="457200" y="457200"/>
              <a:ext cx="343050" cy="343050"/>
              <a:chOff x="0" y="0"/>
              <a:chExt cx="343050" cy="343050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0" y="152400"/>
                <a:ext cx="304800" cy="381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38100" y="190500"/>
                <a:ext cx="57300" cy="114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123825" y="190500"/>
                <a:ext cx="57300" cy="114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209550" y="190500"/>
                <a:ext cx="57300" cy="114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0" y="304800"/>
                <a:ext cx="304800" cy="381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0" y="0"/>
                <a:ext cx="304800" cy="133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190500" y="190500"/>
                <a:ext cx="114300" cy="114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E89A2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8" name="Google Shape;68;p14"/>
              <p:cNvCxnSpPr/>
              <p:nvPr/>
            </p:nvCxnSpPr>
            <p:spPr>
              <a:xfrm>
                <a:off x="285750" y="285750"/>
                <a:ext cx="57300" cy="573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E89A2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69" name="Google Shape;69;p14"/>
            <p:cNvCxnSpPr/>
            <p:nvPr/>
          </p:nvCxnSpPr>
          <p:spPr>
            <a:xfrm>
              <a:off x="4572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4F6F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8686800" y="0"/>
              <a:ext cx="0" cy="5143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4F6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1" name="Google Shape;71;p14"/>
          <p:cNvSpPr txBox="1"/>
          <p:nvPr/>
        </p:nvSpPr>
        <p:spPr>
          <a:xfrm>
            <a:off x="914400" y="2000250"/>
            <a:ext cx="7315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Campus Lost and Found Portal</a:t>
            </a:r>
            <a:endParaRPr b="1" sz="3600">
              <a:solidFill>
                <a:srgbClr val="0A2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4A6B8C"/>
                </a:solidFill>
                <a:latin typeface="Inter Medium"/>
                <a:ea typeface="Inter Medium"/>
                <a:cs typeface="Inter Medium"/>
                <a:sym typeface="Inter Medium"/>
              </a:rPr>
              <a:t>Modernizing Item Recovery on Campus</a:t>
            </a:r>
            <a:endParaRPr b="0" sz="2000">
              <a:solidFill>
                <a:srgbClr val="4A6B8C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15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79" name="Google Shape;79;p15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15"/>
            <p:cNvSpPr txBox="1"/>
            <p:nvPr/>
          </p:nvSpPr>
          <p:spPr>
            <a:xfrm>
              <a:off x="457200" y="3810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rPr>
                <a:t>Fragmented Systems Delay Item Recovery</a:t>
              </a:r>
              <a:endParaRPr b="1" sz="20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2" name="Google Shape;82;p15"/>
            <p:cNvCxnSpPr/>
            <p:nvPr/>
          </p:nvCxnSpPr>
          <p:spPr>
            <a:xfrm>
              <a:off x="457200" y="95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3" name="Google Shape;83;p15"/>
          <p:cNvSpPr txBox="1"/>
          <p:nvPr/>
        </p:nvSpPr>
        <p:spPr>
          <a:xfrm>
            <a:off x="457200" y="1333500"/>
            <a:ext cx="4191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Decentralized physical bins across buildings.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No campus-wide visibility for lost items.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High volume of unclaimed valuable property.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Manual tracking consumes staff time.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33350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0" name="Google Shape;90;p16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16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5" name="Google Shape;95;p16"/>
          <p:cNvSpPr txBox="1"/>
          <p:nvPr/>
        </p:nvSpPr>
        <p:spPr>
          <a:xfrm>
            <a:off x="457200" y="381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A Single Digital Hub Connects Lost Items with Owners</a:t>
            </a:r>
            <a:endParaRPr b="1" sz="2000">
              <a:solidFill>
                <a:srgbClr val="0A2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57200" y="1190625"/>
            <a:ext cx="381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57200" y="1428750"/>
            <a:ext cx="3810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24/7 accessible web portal.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Mobile-friendly interface for on-the-go access.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Real-time, campus-wide digital database.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rPr>
              <a:t>Replaces outdated paper logs.</a:t>
            </a:r>
            <a:endParaRPr b="0" sz="1400">
              <a:solidFill>
                <a:srgbClr val="1A1E2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734050" y="381000"/>
            <a:ext cx="2057400" cy="4191000"/>
            <a:chOff x="-95250" y="-95250"/>
            <a:chExt cx="2057400" cy="4191000"/>
          </a:xfrm>
        </p:grpSpPr>
        <p:sp>
          <p:nvSpPr>
            <p:cNvPr id="99" name="Google Shape;99;p16"/>
            <p:cNvSpPr/>
            <p:nvPr/>
          </p:nvSpPr>
          <p:spPr>
            <a:xfrm>
              <a:off x="-95250" y="-95250"/>
              <a:ext cx="2057400" cy="4191000"/>
            </a:xfrm>
            <a:prstGeom prst="roundRect">
              <a:avLst>
                <a:gd fmla="val 12962" name="adj"/>
              </a:avLst>
            </a:prstGeom>
            <a:solidFill>
              <a:srgbClr val="0A2540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-57150" y="-57150"/>
              <a:ext cx="1981200" cy="4114800"/>
            </a:xfrm>
            <a:prstGeom prst="roundRect">
              <a:avLst>
                <a:gd fmla="val 11538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0" y="0"/>
              <a:ext cx="1866900" cy="4000500"/>
            </a:xfrm>
            <a:prstGeom prst="roundRect">
              <a:avLst>
                <a:gd fmla="val 918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b="0" l="8520" r="8520" t="0"/>
            <a:stretch/>
          </p:blipFill>
          <p:spPr>
            <a:xfrm>
              <a:off x="0" y="0"/>
              <a:ext cx="1866900" cy="4000500"/>
            </a:xfrm>
            <a:prstGeom prst="roundRect">
              <a:avLst>
                <a:gd fmla="val 918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8" name="Google Shape;108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17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110" name="Google Shape;110;p17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" name="Google Shape;112;p17"/>
            <p:cNvSpPr txBox="1"/>
            <p:nvPr/>
          </p:nvSpPr>
          <p:spPr>
            <a:xfrm>
              <a:off x="457200" y="381000"/>
              <a:ext cx="822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A2540"/>
                  </a:solidFill>
                  <a:latin typeface="Inter"/>
                  <a:ea typeface="Inter"/>
                  <a:cs typeface="Inter"/>
                  <a:sym typeface="Inter"/>
                </a:rPr>
                <a:t>Smart Tools Streamline Reporting and Claiming</a:t>
              </a:r>
              <a:endParaRPr b="1" sz="20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3" name="Google Shape;113;p17"/>
            <p:cNvCxnSpPr/>
            <p:nvPr/>
          </p:nvCxnSpPr>
          <p:spPr>
            <a:xfrm>
              <a:off x="457200" y="9144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4" name="Google Shape;114;p17"/>
          <p:cNvGrpSpPr/>
          <p:nvPr/>
        </p:nvGrpSpPr>
        <p:grpSpPr>
          <a:xfrm>
            <a:off x="457200" y="1181100"/>
            <a:ext cx="8229600" cy="3524400"/>
            <a:chOff x="0" y="0"/>
            <a:chExt cx="8229600" cy="3524400"/>
          </a:xfrm>
        </p:grpSpPr>
        <p:grpSp>
          <p:nvGrpSpPr>
            <p:cNvPr id="115" name="Google Shape;115;p17"/>
            <p:cNvGrpSpPr/>
            <p:nvPr/>
          </p:nvGrpSpPr>
          <p:grpSpPr>
            <a:xfrm>
              <a:off x="0" y="0"/>
              <a:ext cx="8229600" cy="1047900"/>
              <a:chOff x="0" y="0"/>
              <a:chExt cx="8229600" cy="1047900"/>
            </a:xfrm>
          </p:grpSpPr>
          <p:sp>
            <p:nvSpPr>
              <p:cNvPr id="116" name="Google Shape;116;p17"/>
              <p:cNvSpPr/>
              <p:nvPr/>
            </p:nvSpPr>
            <p:spPr>
              <a:xfrm>
                <a:off x="0" y="0"/>
                <a:ext cx="82296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8" name="Google Shape;118;p17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19" name="Google Shape;119;p17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4A6B8C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" name="Google Shape;120;p17"/>
                <p:cNvSpPr/>
                <p:nvPr/>
              </p:nvSpPr>
              <p:spPr>
                <a:xfrm>
                  <a:off x="104775" y="114300"/>
                  <a:ext cx="171600" cy="1428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32000"/>
                      </a:moveTo>
                      <a:cubicBezTo>
                        <a:pt x="0" y="23163"/>
                        <a:pt x="5969" y="16000"/>
                        <a:pt x="13333" y="16000"/>
                      </a:cubicBezTo>
                      <a:lnTo>
                        <a:pt x="26667" y="16000"/>
                      </a:lnTo>
                      <a:lnTo>
                        <a:pt x="36667" y="0"/>
                      </a:lnTo>
                      <a:lnTo>
                        <a:pt x="83333" y="0"/>
                      </a:lnTo>
                      <a:lnTo>
                        <a:pt x="93333" y="16000"/>
                      </a:lnTo>
                      <a:lnTo>
                        <a:pt x="106667" y="16000"/>
                      </a:lnTo>
                      <a:cubicBezTo>
                        <a:pt x="114031" y="16000"/>
                        <a:pt x="120000" y="23163"/>
                        <a:pt x="120000" y="32000"/>
                      </a:cubicBezTo>
                      <a:lnTo>
                        <a:pt x="120000" y="104000"/>
                      </a:lnTo>
                      <a:cubicBezTo>
                        <a:pt x="120000" y="112837"/>
                        <a:pt x="114031" y="120000"/>
                        <a:pt x="106667" y="120000"/>
                      </a:cubicBezTo>
                      <a:lnTo>
                        <a:pt x="13333" y="120000"/>
                      </a:lnTo>
                      <a:cubicBezTo>
                        <a:pt x="5969" y="120000"/>
                        <a:pt x="0" y="112837"/>
                        <a:pt x="0" y="10400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0A254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17"/>
                <p:cNvSpPr/>
                <p:nvPr/>
              </p:nvSpPr>
              <p:spPr>
                <a:xfrm>
                  <a:off x="147638" y="152400"/>
                  <a:ext cx="85800" cy="858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0A254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2" name="Google Shape;122;p17"/>
              <p:cNvSpPr txBox="1"/>
              <p:nvPr/>
            </p:nvSpPr>
            <p:spPr>
              <a:xfrm>
                <a:off x="762000" y="190500"/>
                <a:ext cx="7239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Item Logging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Photo uploads and automated categorization.</a:t>
                </a:r>
                <a:endParaRPr b="0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3" name="Google Shape;123;p17"/>
            <p:cNvGrpSpPr/>
            <p:nvPr/>
          </p:nvGrpSpPr>
          <p:grpSpPr>
            <a:xfrm>
              <a:off x="0" y="1238250"/>
              <a:ext cx="8229600" cy="1047900"/>
              <a:chOff x="0" y="0"/>
              <a:chExt cx="8229600" cy="10479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0" y="0"/>
                <a:ext cx="82296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4A6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6" name="Google Shape;126;p17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27" name="Google Shape;127;p17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4A6B8C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7"/>
                <p:cNvSpPr/>
                <p:nvPr/>
              </p:nvSpPr>
              <p:spPr>
                <a:xfrm>
                  <a:off x="104775" y="104775"/>
                  <a:ext cx="133500" cy="1335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cap="flat" cmpd="sng" w="19050">
                  <a:solidFill>
                    <a:srgbClr val="0A254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29" name="Google Shape;129;p17"/>
                <p:cNvCxnSpPr/>
                <p:nvPr/>
              </p:nvCxnSpPr>
              <p:spPr>
                <a:xfrm>
                  <a:off x="219075" y="219075"/>
                  <a:ext cx="57300" cy="57300"/>
                </a:xfrm>
                <a:prstGeom prst="straightConnector1">
                  <a:avLst/>
                </a:prstGeom>
                <a:solidFill>
                  <a:srgbClr val="FFFFFF"/>
                </a:solidFill>
                <a:ln cap="rnd" cmpd="sng" w="19050">
                  <a:solidFill>
                    <a:srgbClr val="0A254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0" name="Google Shape;130;p17"/>
              <p:cNvSpPr txBox="1"/>
              <p:nvPr/>
            </p:nvSpPr>
            <p:spPr>
              <a:xfrm>
                <a:off x="762000" y="190500"/>
                <a:ext cx="7239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Smart Searching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Keyword filters and date ranges.</a:t>
                </a:r>
                <a:endParaRPr b="0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1" name="Google Shape;131;p17"/>
            <p:cNvGrpSpPr/>
            <p:nvPr/>
          </p:nvGrpSpPr>
          <p:grpSpPr>
            <a:xfrm>
              <a:off x="0" y="2476500"/>
              <a:ext cx="8229600" cy="1047900"/>
              <a:chOff x="0" y="0"/>
              <a:chExt cx="8229600" cy="1047900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0" y="0"/>
                <a:ext cx="8229600" cy="1047900"/>
              </a:xfrm>
              <a:prstGeom prst="roundRect">
                <a:avLst>
                  <a:gd fmla="val 3636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0" y="0"/>
                <a:ext cx="381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" name="Google Shape;134;p17"/>
              <p:cNvGrpSpPr/>
              <p:nvPr/>
            </p:nvGrpSpPr>
            <p:grpSpPr>
              <a:xfrm>
                <a:off x="228600" y="209550"/>
                <a:ext cx="381000" cy="381000"/>
                <a:chOff x="0" y="0"/>
                <a:chExt cx="381000" cy="381000"/>
              </a:xfrm>
            </p:grpSpPr>
            <p:sp>
              <p:nvSpPr>
                <p:cNvPr id="135" name="Google Shape;135;p17"/>
                <p:cNvSpPr/>
                <p:nvPr/>
              </p:nvSpPr>
              <p:spPr>
                <a:xfrm>
                  <a:off x="0" y="0"/>
                  <a:ext cx="381000" cy="381000"/>
                </a:xfrm>
                <a:prstGeom prst="ellipse">
                  <a:avLst/>
                </a:prstGeom>
                <a:solidFill>
                  <a:srgbClr val="4A6B8C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17"/>
                <p:cNvSpPr/>
                <p:nvPr/>
              </p:nvSpPr>
              <p:spPr>
                <a:xfrm>
                  <a:off x="114300" y="133350"/>
                  <a:ext cx="152400" cy="104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5455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23825">
                  <a:solidFill>
                    <a:srgbClr val="0A254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7" name="Google Shape;137;p17"/>
              <p:cNvSpPr txBox="1"/>
              <p:nvPr/>
            </p:nvSpPr>
            <p:spPr>
              <a:xfrm>
                <a:off x="762000" y="190500"/>
                <a:ext cx="7239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Secure Verification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Private details required for claim approval.</a:t>
                </a:r>
                <a:endParaRPr b="0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8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0" y="57150"/>
              <a:ext cx="1143000" cy="19200"/>
            </a:xfrm>
            <a:prstGeom prst="rect">
              <a:avLst/>
            </a:prstGeom>
            <a:solidFill>
              <a:srgbClr val="E89A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8"/>
          <p:cNvSpPr txBox="1"/>
          <p:nvPr/>
        </p:nvSpPr>
        <p:spPr>
          <a:xfrm>
            <a:off x="457200" y="400050"/>
            <a:ext cx="822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Three Simple Steps to Recover Lost Property</a:t>
            </a:r>
            <a:endParaRPr b="1" sz="2800">
              <a:solidFill>
                <a:srgbClr val="0A2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6" name="Google Shape;146;p18"/>
          <p:cNvCxnSpPr/>
          <p:nvPr/>
        </p:nvCxnSpPr>
        <p:spPr>
          <a:xfrm>
            <a:off x="457200" y="9906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7" name="Google Shape;147;p18"/>
          <p:cNvGrpSpPr/>
          <p:nvPr/>
        </p:nvGrpSpPr>
        <p:grpSpPr>
          <a:xfrm>
            <a:off x="457200" y="1428750"/>
            <a:ext cx="8229750" cy="2381400"/>
            <a:chOff x="457200" y="0"/>
            <a:chExt cx="8229750" cy="2381400"/>
          </a:xfrm>
        </p:grpSpPr>
        <p:grpSp>
          <p:nvGrpSpPr>
            <p:cNvPr id="148" name="Google Shape;148;p18"/>
            <p:cNvGrpSpPr/>
            <p:nvPr/>
          </p:nvGrpSpPr>
          <p:grpSpPr>
            <a:xfrm>
              <a:off x="457200" y="0"/>
              <a:ext cx="2571900" cy="2381400"/>
              <a:chOff x="0" y="0"/>
              <a:chExt cx="2571900" cy="2381400"/>
            </a:xfrm>
          </p:grpSpPr>
          <p:sp>
            <p:nvSpPr>
              <p:cNvPr id="149" name="Google Shape;149;p18"/>
              <p:cNvSpPr/>
              <p:nvPr/>
            </p:nvSpPr>
            <p:spPr>
              <a:xfrm>
                <a:off x="0" y="0"/>
                <a:ext cx="2571900" cy="2381400"/>
              </a:xfrm>
              <a:prstGeom prst="roundRect">
                <a:avLst>
                  <a:gd fmla="val 1600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 txBox="1"/>
              <p:nvPr/>
            </p:nvSpPr>
            <p:spPr>
              <a:xfrm>
                <a:off x="228600" y="266700"/>
                <a:ext cx="2114700" cy="18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E89A2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01</a:t>
                </a:r>
                <a:endParaRPr b="0" sz="1100">
                  <a:solidFill>
                    <a:srgbClr val="E89A2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Report or Search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Submit details online instantly.</a:t>
                </a:r>
                <a:endParaRPr b="0" sz="13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2" name="Google Shape;152;p18"/>
            <p:cNvGrpSpPr/>
            <p:nvPr/>
          </p:nvGrpSpPr>
          <p:grpSpPr>
            <a:xfrm>
              <a:off x="3286125" y="0"/>
              <a:ext cx="2571900" cy="2381400"/>
              <a:chOff x="0" y="0"/>
              <a:chExt cx="2571900" cy="2381400"/>
            </a:xfrm>
          </p:grpSpPr>
          <p:sp>
            <p:nvSpPr>
              <p:cNvPr id="153" name="Google Shape;153;p18"/>
              <p:cNvSpPr/>
              <p:nvPr/>
            </p:nvSpPr>
            <p:spPr>
              <a:xfrm>
                <a:off x="0" y="0"/>
                <a:ext cx="2571900" cy="2381400"/>
              </a:xfrm>
              <a:prstGeom prst="roundRect">
                <a:avLst>
                  <a:gd fmla="val 1600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4A6B8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8"/>
              <p:cNvSpPr txBox="1"/>
              <p:nvPr/>
            </p:nvSpPr>
            <p:spPr>
              <a:xfrm>
                <a:off x="228600" y="266700"/>
                <a:ext cx="2114700" cy="18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E89A2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02</a:t>
                </a:r>
                <a:endParaRPr b="0" sz="1100">
                  <a:solidFill>
                    <a:srgbClr val="E89A2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Match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System flags potential inventory matches.</a:t>
                </a:r>
                <a:endParaRPr b="0" sz="13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6" name="Google Shape;156;p18"/>
            <p:cNvGrpSpPr/>
            <p:nvPr/>
          </p:nvGrpSpPr>
          <p:grpSpPr>
            <a:xfrm>
              <a:off x="6115050" y="0"/>
              <a:ext cx="2571900" cy="2381400"/>
              <a:chOff x="0" y="0"/>
              <a:chExt cx="2571900" cy="2381400"/>
            </a:xfrm>
          </p:grpSpPr>
          <p:sp>
            <p:nvSpPr>
              <p:cNvPr id="157" name="Google Shape;157;p18"/>
              <p:cNvSpPr/>
              <p:nvPr/>
            </p:nvSpPr>
            <p:spPr>
              <a:xfrm>
                <a:off x="0" y="0"/>
                <a:ext cx="2571900" cy="2381400"/>
              </a:xfrm>
              <a:prstGeom prst="roundRect">
                <a:avLst>
                  <a:gd fmla="val 1600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E89A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8"/>
              <p:cNvSpPr txBox="1"/>
              <p:nvPr/>
            </p:nvSpPr>
            <p:spPr>
              <a:xfrm>
                <a:off x="228600" y="266700"/>
                <a:ext cx="2114700" cy="18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E89A2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STEP 03</a:t>
                </a:r>
                <a:endParaRPr b="0" sz="1100">
                  <a:solidFill>
                    <a:srgbClr val="E89A2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Claim</a:t>
                </a:r>
                <a:endParaRPr b="0" sz="18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A1E23"/>
                    </a:solidFill>
                    <a:latin typeface="Inter"/>
                    <a:ea typeface="Inter"/>
                    <a:cs typeface="Inter"/>
                    <a:sym typeface="Inter"/>
                  </a:rPr>
                  <a:t>Retrieve the item at the designated security desk.</a:t>
                </a:r>
                <a:endParaRPr b="0" sz="13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9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0" y="57150"/>
              <a:ext cx="1143000" cy="19200"/>
            </a:xfrm>
            <a:prstGeom prst="rect">
              <a:avLst/>
            </a:prstGeom>
            <a:solidFill>
              <a:srgbClr val="E89A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19"/>
          <p:cNvSpPr txBox="1"/>
          <p:nvPr/>
        </p:nvSpPr>
        <p:spPr>
          <a:xfrm>
            <a:off x="457200" y="36195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Empowering Campus Security with Efficient Tools</a:t>
            </a:r>
            <a:endParaRPr b="1" sz="2200">
              <a:solidFill>
                <a:srgbClr val="0A2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" name="Google Shape;169;p19"/>
          <p:cNvGrpSpPr/>
          <p:nvPr/>
        </p:nvGrpSpPr>
        <p:grpSpPr>
          <a:xfrm>
            <a:off x="457200" y="1200150"/>
            <a:ext cx="8229600" cy="3238500"/>
            <a:chOff x="0" y="0"/>
            <a:chExt cx="8229600" cy="3238500"/>
          </a:xfrm>
        </p:grpSpPr>
        <p:grpSp>
          <p:nvGrpSpPr>
            <p:cNvPr id="170" name="Google Shape;170;p19"/>
            <p:cNvGrpSpPr/>
            <p:nvPr/>
          </p:nvGrpSpPr>
          <p:grpSpPr>
            <a:xfrm>
              <a:off x="0" y="0"/>
              <a:ext cx="3810000" cy="3238500"/>
              <a:chOff x="0" y="0"/>
              <a:chExt cx="3810000" cy="3238500"/>
            </a:xfrm>
          </p:grpSpPr>
          <p:sp>
            <p:nvSpPr>
              <p:cNvPr id="171" name="Google Shape;171;p19"/>
              <p:cNvSpPr/>
              <p:nvPr/>
            </p:nvSpPr>
            <p:spPr>
              <a:xfrm>
                <a:off x="0" y="0"/>
                <a:ext cx="3810000" cy="3238500"/>
              </a:xfrm>
              <a:prstGeom prst="roundRect">
                <a:avLst>
                  <a:gd fmla="val 1764" name="adj"/>
                </a:avLst>
              </a:prstGeom>
              <a:solidFill>
                <a:srgbClr val="F4F6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9"/>
              <p:cNvSpPr/>
              <p:nvPr/>
            </p:nvSpPr>
            <p:spPr>
              <a:xfrm>
                <a:off x="0" y="0"/>
                <a:ext cx="3810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A25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9"/>
              <p:cNvSpPr txBox="1"/>
              <p:nvPr/>
            </p:nvSpPr>
            <p:spPr>
              <a:xfrm>
                <a:off x="304800" y="342900"/>
                <a:ext cx="3200400" cy="25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E89A2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Administrative Capabilities</a:t>
                </a:r>
                <a:endParaRPr b="0" sz="1100">
                  <a:solidFill>
                    <a:srgbClr val="E89A2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2000">
                    <a:solidFill>
                      <a:srgbClr val="0A254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Streamlined Security Operations</a:t>
                </a:r>
                <a:endParaRPr b="0" sz="2000">
                  <a:solidFill>
                    <a:srgbClr val="0A254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A6B8C"/>
                    </a:solidFill>
                    <a:latin typeface="Inter"/>
                    <a:ea typeface="Inter"/>
                    <a:cs typeface="Inter"/>
                    <a:sym typeface="Inter"/>
                  </a:rPr>
                  <a:t>A comprehensive operational framework tailored for campus administration, delivering complete visibility, seamless governance, and automated oversight across security workflow channels.</a:t>
                </a:r>
                <a:endParaRPr b="0" sz="1400">
                  <a:solidFill>
                    <a:srgbClr val="4A6B8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74" name="Google Shape;174;p19"/>
            <p:cNvSpPr txBox="1"/>
            <p:nvPr/>
          </p:nvSpPr>
          <p:spPr>
            <a:xfrm>
              <a:off x="4114800" y="95250"/>
              <a:ext cx="41148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A1E23"/>
                </a:buClr>
                <a:buSzPts val="1400"/>
                <a:buFont typeface="Inter"/>
                <a:buChar char="●"/>
              </a:pPr>
              <a:r>
                <a:rPr b="0" lang="en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rPr>
                <a:t>Centralized dashboard for inventory tracking.</a:t>
              </a:r>
              <a:endParaRPr b="0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E23"/>
                </a:buClr>
                <a:buSzPts val="1400"/>
                <a:buFont typeface="Inter"/>
                <a:buChar char="●"/>
              </a:pPr>
              <a:r>
                <a:rPr b="0" lang="en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rPr>
                <a:t>Automated claim approval workflows.</a:t>
              </a:r>
              <a:endParaRPr b="0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0"/>
                </a:spcAft>
                <a:buClr>
                  <a:srgbClr val="1A1E23"/>
                </a:buClr>
                <a:buSzPts val="1400"/>
                <a:buFont typeface="Inter"/>
                <a:buChar char="●"/>
              </a:pPr>
              <a:r>
                <a:rPr b="0" lang="en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rPr>
                <a:t>Secure data handling and user privacy.</a:t>
              </a:r>
              <a:endParaRPr b="0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800"/>
                </a:spcBef>
                <a:spcAft>
                  <a:spcPts val="1800"/>
                </a:spcAft>
                <a:buClr>
                  <a:srgbClr val="1A1E23"/>
                </a:buClr>
                <a:buSzPts val="1400"/>
                <a:buFont typeface="Inter"/>
                <a:buChar char="●"/>
              </a:pPr>
              <a:r>
                <a:rPr b="0" lang="en" sz="1400">
                  <a:solidFill>
                    <a:srgbClr val="1A1E23"/>
                  </a:solidFill>
                  <a:latin typeface="Inter"/>
                  <a:ea typeface="Inter"/>
                  <a:cs typeface="Inter"/>
                  <a:sym typeface="Inter"/>
                </a:rPr>
                <a:t>Analytics on campus lost-item trends.</a:t>
              </a:r>
              <a:endParaRPr b="0" sz="1400">
                <a:solidFill>
                  <a:srgbClr val="1A1E2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E89A2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7429500" y="3429000"/>
            <a:ext cx="1029150" cy="1029150"/>
            <a:chOff x="0" y="0"/>
            <a:chExt cx="343050" cy="34305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152400"/>
              <a:ext cx="304800" cy="38100"/>
            </a:xfrm>
            <a:prstGeom prst="rect">
              <a:avLst/>
            </a:pr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38100" y="190500"/>
              <a:ext cx="57300" cy="114300"/>
            </a:xfrm>
            <a:prstGeom prst="rect">
              <a:avLst/>
            </a:pr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123825" y="190500"/>
              <a:ext cx="57300" cy="114300"/>
            </a:xfrm>
            <a:prstGeom prst="rect">
              <a:avLst/>
            </a:pr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209550" y="190500"/>
              <a:ext cx="57300" cy="114300"/>
            </a:xfrm>
            <a:prstGeom prst="rect">
              <a:avLst/>
            </a:pr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0" y="304800"/>
              <a:ext cx="304800" cy="38100"/>
            </a:xfrm>
            <a:prstGeom prst="rect">
              <a:avLst/>
            </a:pr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0" y="0"/>
              <a:ext cx="304800" cy="133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A254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0826" y="180826"/>
              <a:ext cx="133800" cy="1338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9" name="Google Shape;189;p20"/>
            <p:cNvCxnSpPr/>
            <p:nvPr/>
          </p:nvCxnSpPr>
          <p:spPr>
            <a:xfrm>
              <a:off x="285750" y="285750"/>
              <a:ext cx="57300" cy="5730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E89A2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0" name="Google Shape;190;p20"/>
          <p:cNvSpPr txBox="1"/>
          <p:nvPr/>
        </p:nvSpPr>
        <p:spPr>
          <a:xfrm>
            <a:off x="457200" y="419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18">
                <a:solidFill>
                  <a:srgbClr val="E89A2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ROLLOUT STRATEGY</a:t>
            </a:r>
            <a:endParaRPr b="0" sz="1018">
              <a:solidFill>
                <a:srgbClr val="E89A2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Phased Rollout Ensures Smooth Campus Adoption</a:t>
            </a:r>
            <a:endParaRPr b="1" sz="259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457200" y="13335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E3E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457200" y="1619250"/>
            <a:ext cx="42864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A6B8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ADOPTION PHASES</a:t>
            </a:r>
            <a:endParaRPr b="0" sz="1100">
              <a:solidFill>
                <a:srgbClr val="4A6B8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Beta testing with campus security.</a:t>
            </a:r>
            <a:endParaRPr b="0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Administrative staff training sessions.</a:t>
            </a:r>
            <a:endParaRPr b="0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Campus-wide awareness campaign.</a:t>
            </a:r>
            <a:endParaRPr b="0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portal launch next semester.</a:t>
            </a:r>
            <a:endParaRPr b="0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5086350" y="1619250"/>
            <a:ext cx="3600600" cy="2667000"/>
            <a:chOff x="0" y="0"/>
            <a:chExt cx="3600600" cy="2667000"/>
          </a:xfrm>
        </p:grpSpPr>
        <p:sp>
          <p:nvSpPr>
            <p:cNvPr id="194" name="Google Shape;194;p20"/>
            <p:cNvSpPr/>
            <p:nvPr/>
          </p:nvSpPr>
          <p:spPr>
            <a:xfrm>
              <a:off x="0" y="0"/>
              <a:ext cx="3600600" cy="2667000"/>
            </a:xfrm>
            <a:prstGeom prst="roundRect">
              <a:avLst>
                <a:gd fmla="val 2142" name="adj"/>
              </a:avLst>
            </a:prstGeom>
            <a:solidFill>
              <a:srgbClr val="133559"/>
            </a:solidFill>
            <a:ln cap="flat" cmpd="sng" w="14300">
              <a:solidFill>
                <a:srgbClr val="E89A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0" y="0"/>
              <a:ext cx="3600600" cy="57300"/>
            </a:xfrm>
            <a:prstGeom prst="roundRect">
              <a:avLst>
                <a:gd fmla="val 50000" name="adj"/>
              </a:avLst>
            </a:prstGeom>
            <a:solidFill>
              <a:srgbClr val="E89A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20"/>
            <p:cNvGrpSpPr/>
            <p:nvPr/>
          </p:nvGrpSpPr>
          <p:grpSpPr>
            <a:xfrm>
              <a:off x="304800" y="304800"/>
              <a:ext cx="342900" cy="342900"/>
              <a:chOff x="0" y="0"/>
              <a:chExt cx="342900" cy="342900"/>
            </a:xfrm>
          </p:grpSpPr>
          <p:sp>
            <p:nvSpPr>
              <p:cNvPr id="197" name="Google Shape;197;p20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E89A25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104775" y="123825"/>
                <a:ext cx="133500" cy="954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2857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E89A2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" name="Google Shape;199;p20"/>
            <p:cNvSpPr txBox="1"/>
            <p:nvPr/>
          </p:nvSpPr>
          <p:spPr>
            <a:xfrm>
              <a:off x="304800" y="762000"/>
              <a:ext cx="2991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E89A2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LAUNCH MILESTONE</a:t>
              </a:r>
              <a:endParaRPr b="0" sz="1100">
                <a:solidFill>
                  <a:srgbClr val="E89A2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Official Portal Launch Next Semester</a:t>
              </a:r>
              <a:endParaRPr b="0" sz="2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Ensuring operational readiness, system security, and full staff alignment prior to go-live.</a:t>
              </a:r>
              <a:endParaRPr b="0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